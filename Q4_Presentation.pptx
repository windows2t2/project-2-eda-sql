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90" autoAdjust="0"/>
    <p:restoredTop sz="94640" autoAdjust="0"/>
  </p:normalViewPr>
  <p:slideViewPr>
    <p:cSldViewPr snapToGrid="0" snapToObjects="1">
      <p:cViewPr varScale="1">
        <p:scale>
          <a:sx n="159" d="100"/>
          <a:sy n="159" d="100"/>
        </p:scale>
        <p:origin x="1140"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87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In this section I'll answer our fourth research question: How do team player ratings and team formations influence match performance?</a:t>
            </a:r>
          </a:p>
          <a:p>
            <a:endParaRPr/>
          </a:p>
          <a:p>
            <a:r>
              <a:t>We worked with over 16,000 matches from top European leagues. The two key variables are rating difference — that's the home team's average player rating minus the away team's, covering defense, midfield, and attack — and team formation, which is the tactical setup encoded from 0 to 4 in our dataset.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what the data looks like.</a:t>
            </a:r>
          </a:p>
          <a:p>
            <a:endParaRPr/>
          </a:p>
          <a:p>
            <a:r>
              <a:t>First, the rating difference distribution: it's a beautiful bell shape centered at zero. This makes sense — in most matches, both teams have very similar average player ratings. The spread goes from roughly minus 5 to plus 5, and there are hardly any extreme outliers.</a:t>
            </a:r>
          </a:p>
          <a:p>
            <a:endParaRPr/>
          </a:p>
          <a:p>
            <a:r>
              <a:t>Second, the formation distribution: this is where it gets interesting. Formation 0 — which corresponds to setups like 4-2-3-1 or 4-3-3 — is by far the most popular, appearing in over 40% of matches. Formation 2, the classic 4-4-2, is second. What's really striking is that home and away teams use almost exactly the same formations. Home teams don't suddenly switch to a more attacking shape just because they're at home — the distributions are virtually identical. So formation alone probably won't explain home advantage.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big question: do higher-rated teams actually score more goals? The answer is clearly yes.</a:t>
            </a:r>
          </a:p>
          <a:p>
            <a:endParaRPr/>
          </a:p>
          <a:p>
            <a:r>
              <a:t>This scatter plot shows rating difference on the x-axis and goal difference on the y-axis. The red trend line is unmistakably upward. The correlation is around 0.50, which in football analytics is actually quite strong — football is a low-scoring, high-variance sport.</a:t>
            </a:r>
          </a:p>
          <a:p>
            <a:endParaRPr/>
          </a:p>
          <a:p>
            <a:r>
              <a:t>The hexbin density map on the right confirms that the vast majority of matches cluster around zero-zero: when ratings are similar, goal differences are small. But as rating advantage grows, so does the expected goal margin. Concretely, a one-point rating advantage translates to roughly half a goal in the final margin.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make this even more concrete. Here's a boxplot of rating difference grouped by the final match result.</a:t>
            </a:r>
          </a:p>
          <a:p>
            <a:endParaRPr/>
          </a:p>
          <a:p>
            <a:r>
              <a:t>Look at the pattern: Home wins have a positive median rating difference of about +0.75. Away wins show the exact opposite: a negative median of −0.69. And draws? They're dead centered at zero — both teams equally matched.</a:t>
            </a:r>
          </a:p>
          <a:p>
            <a:endParaRPr/>
          </a:p>
          <a:p>
            <a:r>
              <a:t>This is a really clean result. The gradient is perfect: when the home team is rated higher, they tend to win. When the away team is rated higher, they tend to win. When they're equal, they tend to draw. Player ratings are a genuinely strong predictor of match outcomes.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ratings clearly matter. What about formations?</a:t>
            </a:r>
          </a:p>
          <a:p>
            <a:endParaRPr/>
          </a:p>
          <a:p>
            <a:r>
              <a:t>This chart shows the percentage of home wins, draws, and away wins for each of the top 8 formations. And the takeaway is: formations barely move the needle.</a:t>
            </a:r>
          </a:p>
          <a:p>
            <a:endParaRPr/>
          </a:p>
          <a:p>
            <a:r>
              <a:t>Whether you play 4-3-3, 4-4-2, or 3-5-2, your home win percentage hovers between 44% and 47%. The differences are just 2 to 3 percentage points — nowhere near statistically meaningful. No formation is a magic bullet.</a:t>
            </a:r>
          </a:p>
          <a:p>
            <a:endParaRPr/>
          </a:p>
          <a:p>
            <a:r>
              <a:t>This makes intuitive sense: Manchester City playing a 4-4-2 will beat a relegation side playing 4-3-3 every time. The quality of the players matters far more than how you arrange them on paper. Formations are a secondary factor at best.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to answer our question: how do player ratings and formations influence match performance?</a:t>
            </a:r>
          </a:p>
          <a:p>
            <a:endParaRPr/>
          </a:p>
          <a:p>
            <a:r>
              <a:t>Player ratings influence it a lot. We see a strong correlation with goals, a perfect gradient across match results, and consistency across leagues. Ratings capture the underlying quality of a team.</a:t>
            </a:r>
          </a:p>
          <a:p>
            <a:endParaRPr/>
          </a:p>
          <a:p>
            <a:r>
              <a:t>Formations, on the other hand, influence match performance very little. Every common formation produces roughly the same win rate. The lesson is clear: it's the players, not the system.</a:t>
            </a:r>
          </a:p>
          <a:p>
            <a:endParaRPr/>
          </a:p>
          <a:p>
            <a:r>
              <a:t>Combined with our earlier findings on xG and recent form, ratings complete the picture: they are the structural measure of quality, while xG and form are situational measures. Together, they give us a powerful framework for predicting football match outcomes.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731520" y="2103120"/>
            <a:ext cx="10698480" cy="73152"/>
          </a:xfrm>
          <a:prstGeom prst="rect">
            <a:avLst/>
          </a:prstGeom>
          <a:solidFill>
            <a:srgbClr val="468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698480" cy="1645920"/>
          </a:xfrm>
          <a:prstGeom prst="rect">
            <a:avLst/>
          </a:prstGeom>
          <a:noFill/>
        </p:spPr>
        <p:txBody>
          <a:bodyPr wrap="square">
            <a:spAutoFit/>
          </a:bodyPr>
          <a:lstStyle/>
          <a:p>
            <a:pPr algn="ctr">
              <a:defRPr sz="4000" b="1">
                <a:solidFill>
                  <a:srgbClr val="FFFFFF"/>
                </a:solidFill>
              </a:defRPr>
            </a:pPr>
            <a:r>
              <a:t>How do Team Player Ratings and Team</a:t>
            </a:r>
            <a:br/>
            <a:r>
              <a:t>Formations Influence Match Performance?</a:t>
            </a:r>
          </a:p>
        </p:txBody>
      </p:sp>
      <p:sp>
        <p:nvSpPr>
          <p:cNvPr id="4" name="TextBox 3"/>
          <p:cNvSpPr txBox="1"/>
          <p:nvPr/>
        </p:nvSpPr>
        <p:spPr>
          <a:xfrm>
            <a:off x="809725" y="2275472"/>
            <a:ext cx="10698480" cy="3921586"/>
          </a:xfrm>
          <a:prstGeom prst="rect">
            <a:avLst/>
          </a:prstGeom>
          <a:noFill/>
        </p:spPr>
        <p:txBody>
          <a:bodyPr wrap="square">
            <a:spAutoFit/>
          </a:bodyPr>
          <a:lstStyle/>
          <a:p>
            <a:pPr>
              <a:spcAft>
                <a:spcPts val="520"/>
              </a:spcAft>
              <a:defRPr sz="2000">
                <a:solidFill>
                  <a:srgbClr val="E0E0E0"/>
                </a:solidFill>
              </a:defRPr>
            </a:pPr>
            <a:r>
              <a:rPr dirty="0"/>
              <a:t>Key Variables:</a:t>
            </a:r>
          </a:p>
          <a:p>
            <a:pPr>
              <a:spcAft>
                <a:spcPts val="520"/>
              </a:spcAft>
              <a:defRPr sz="2000">
                <a:solidFill>
                  <a:srgbClr val="E0E0E0"/>
                </a:solidFill>
              </a:defRPr>
            </a:pPr>
            <a:r>
              <a:rPr dirty="0"/>
              <a:t>   •  </a:t>
            </a:r>
            <a:r>
              <a:rPr dirty="0" err="1"/>
              <a:t>rating_difference</a:t>
            </a:r>
            <a:r>
              <a:rPr dirty="0"/>
              <a:t> = Home team avg rating − Away team avg rating</a:t>
            </a:r>
          </a:p>
          <a:p>
            <a:pPr>
              <a:spcAft>
                <a:spcPts val="520"/>
              </a:spcAft>
              <a:defRPr sz="2000">
                <a:solidFill>
                  <a:srgbClr val="E0E0E0"/>
                </a:solidFill>
              </a:defRPr>
            </a:pPr>
            <a:r>
              <a:rPr dirty="0"/>
              <a:t>   •  </a:t>
            </a:r>
            <a:r>
              <a:rPr dirty="0" err="1"/>
              <a:t>home_formation</a:t>
            </a:r>
            <a:r>
              <a:rPr dirty="0"/>
              <a:t> / </a:t>
            </a:r>
            <a:r>
              <a:rPr dirty="0" err="1"/>
              <a:t>away_formation</a:t>
            </a:r>
            <a:r>
              <a:rPr dirty="0"/>
              <a:t> = Tactical setup (encoded 0–4)</a:t>
            </a:r>
            <a:endParaRPr lang="en-US" dirty="0"/>
          </a:p>
          <a:p>
            <a:pPr>
              <a:spcAft>
                <a:spcPts val="520"/>
              </a:spcAft>
              <a:defRPr sz="2000">
                <a:solidFill>
                  <a:srgbClr val="E0E0E0"/>
                </a:solidFill>
              </a:defRPr>
            </a:pPr>
            <a:endParaRPr lang="en-US" dirty="0"/>
          </a:p>
          <a:p>
            <a:pPr>
              <a:spcAft>
                <a:spcPts val="520"/>
              </a:spcAft>
              <a:defRPr sz="2000">
                <a:solidFill>
                  <a:srgbClr val="E0E0E0"/>
                </a:solidFill>
              </a:defRPr>
            </a:pPr>
            <a:endParaRPr lang="en-US" dirty="0"/>
          </a:p>
          <a:p>
            <a:r>
              <a:rPr lang="en-US" b="1" dirty="0">
                <a:solidFill>
                  <a:srgbClr val="569CD6"/>
                </a:solidFill>
                <a:effectLst/>
                <a:latin typeface="Consolas" panose="020B0609020204030204" pitchFamily="49" charset="0"/>
              </a:rPr>
              <a:t>Formation Encoding Key</a:t>
            </a:r>
            <a:r>
              <a:rPr lang="en-US" b="0" dirty="0">
                <a:solidFill>
                  <a:srgbClr val="DADADA"/>
                </a:solidFill>
                <a:effectLst/>
                <a:latin typeface="Consolas" panose="020B0609020204030204" pitchFamily="49" charset="0"/>
              </a:rPr>
              <a:t> (from the dataset documentation):</a:t>
            </a:r>
          </a:p>
          <a:p>
            <a:r>
              <a:rPr lang="en-US" b="0" dirty="0">
                <a:solidFill>
                  <a:srgbClr val="DADADA"/>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1" dirty="0">
                <a:solidFill>
                  <a:srgbClr val="B4B4B4"/>
                </a:solidFill>
                <a:effectLst/>
                <a:latin typeface="Consolas" panose="020B0609020204030204" pitchFamily="49" charset="0"/>
              </a:rPr>
              <a:t>**</a:t>
            </a:r>
            <a:r>
              <a:rPr lang="en-US" b="1" dirty="0">
                <a:solidFill>
                  <a:srgbClr val="569CD6"/>
                </a:solidFill>
                <a:effectLst/>
                <a:latin typeface="Consolas" panose="020B0609020204030204" pitchFamily="49" charset="0"/>
              </a:rPr>
              <a:t>0</a:t>
            </a:r>
            <a:r>
              <a:rPr lang="en-US" b="1"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 2 defenders, 1 forward (e.g., 4-2-3-1, 4-3-3, 4-5-1)</a:t>
            </a:r>
          </a:p>
          <a:p>
            <a:r>
              <a:rPr lang="en-US" b="0" dirty="0">
                <a:solidFill>
                  <a:srgbClr val="DADADA"/>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1" dirty="0">
                <a:solidFill>
                  <a:srgbClr val="B4B4B4"/>
                </a:solidFill>
                <a:effectLst/>
                <a:latin typeface="Consolas" panose="020B0609020204030204" pitchFamily="49" charset="0"/>
              </a:rPr>
              <a:t>**</a:t>
            </a:r>
            <a:r>
              <a:rPr lang="en-US" b="1" dirty="0">
                <a:solidFill>
                  <a:srgbClr val="569CD6"/>
                </a:solidFill>
                <a:effectLst/>
                <a:latin typeface="Consolas" panose="020B0609020204030204" pitchFamily="49" charset="0"/>
              </a:rPr>
              <a:t>1</a:t>
            </a:r>
            <a:r>
              <a:rPr lang="en-US" b="1"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 3 defenders, 1 forward (e.g., 3-4-2-1, 3-5-1-1, 5-2-2-1)</a:t>
            </a:r>
          </a:p>
          <a:p>
            <a:r>
              <a:rPr lang="en-US" b="0" dirty="0">
                <a:solidFill>
                  <a:srgbClr val="DADADA"/>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1" dirty="0">
                <a:solidFill>
                  <a:srgbClr val="B4B4B4"/>
                </a:solidFill>
                <a:effectLst/>
                <a:latin typeface="Consolas" panose="020B0609020204030204" pitchFamily="49" charset="0"/>
              </a:rPr>
              <a:t>**</a:t>
            </a:r>
            <a:r>
              <a:rPr lang="en-US" b="1" dirty="0">
                <a:solidFill>
                  <a:srgbClr val="569CD6"/>
                </a:solidFill>
                <a:effectLst/>
                <a:latin typeface="Consolas" panose="020B0609020204030204" pitchFamily="49" charset="0"/>
              </a:rPr>
              <a:t>2</a:t>
            </a:r>
            <a:r>
              <a:rPr lang="en-US" b="1"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 2 defenders, 2 forwards (e.g., 4-4-2, 4-2-2-2)</a:t>
            </a:r>
          </a:p>
          <a:p>
            <a:r>
              <a:rPr lang="en-US" b="0" dirty="0">
                <a:solidFill>
                  <a:srgbClr val="DADADA"/>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1" dirty="0">
                <a:solidFill>
                  <a:srgbClr val="B4B4B4"/>
                </a:solidFill>
                <a:effectLst/>
                <a:latin typeface="Consolas" panose="020B0609020204030204" pitchFamily="49" charset="0"/>
              </a:rPr>
              <a:t>**</a:t>
            </a:r>
            <a:r>
              <a:rPr lang="en-US" b="1" dirty="0">
                <a:solidFill>
                  <a:srgbClr val="569CD6"/>
                </a:solidFill>
                <a:effectLst/>
                <a:latin typeface="Consolas" panose="020B0609020204030204" pitchFamily="49" charset="0"/>
              </a:rPr>
              <a:t>3</a:t>
            </a:r>
            <a:r>
              <a:rPr lang="en-US" b="1"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 3 defenders, 2 forwards (e.g., 3-5-2, 3-4-1-2, 5-3-2)</a:t>
            </a:r>
          </a:p>
          <a:p>
            <a:r>
              <a:rPr lang="en-US" b="0" dirty="0">
                <a:solidFill>
                  <a:srgbClr val="DADADA"/>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1" dirty="0">
                <a:solidFill>
                  <a:srgbClr val="B4B4B4"/>
                </a:solidFill>
                <a:effectLst/>
                <a:latin typeface="Consolas" panose="020B0609020204030204" pitchFamily="49" charset="0"/>
              </a:rPr>
              <a:t>**</a:t>
            </a:r>
            <a:r>
              <a:rPr lang="en-US" b="1" dirty="0">
                <a:solidFill>
                  <a:srgbClr val="569CD6"/>
                </a:solidFill>
                <a:effectLst/>
                <a:latin typeface="Consolas" panose="020B0609020204030204" pitchFamily="49" charset="0"/>
              </a:rPr>
              <a:t>4</a:t>
            </a:r>
            <a:r>
              <a:rPr lang="en-US" b="1"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 Other / unusual formations (anything not fitting the above patterns)</a:t>
            </a:r>
          </a:p>
          <a:p>
            <a:pPr>
              <a:spcAft>
                <a:spcPts val="520"/>
              </a:spcAft>
              <a:defRPr sz="2000">
                <a:solidFill>
                  <a:srgbClr val="E0E0E0"/>
                </a:solidFill>
              </a:defRPr>
            </a:pPr>
            <a:endParaRPr dirty="0"/>
          </a:p>
        </p:txBody>
      </p:sp>
      <p:sp>
        <p:nvSpPr>
          <p:cNvPr id="5" name="TextBox 4"/>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1 /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3" name="TextBox 2"/>
          <p:cNvSpPr txBox="1"/>
          <p:nvPr/>
        </p:nvSpPr>
        <p:spPr>
          <a:xfrm>
            <a:off x="731520" y="365760"/>
            <a:ext cx="11053412" cy="646331"/>
          </a:xfrm>
          <a:prstGeom prst="rect">
            <a:avLst/>
          </a:prstGeom>
          <a:noFill/>
        </p:spPr>
        <p:txBody>
          <a:bodyPr wrap="square">
            <a:spAutoFit/>
          </a:bodyPr>
          <a:lstStyle/>
          <a:p>
            <a:pPr algn="l">
              <a:defRPr sz="3600" b="1">
                <a:solidFill>
                  <a:srgbClr val="FFFFFF"/>
                </a:solidFill>
              </a:defRPr>
            </a:pPr>
            <a:r>
              <a:rPr dirty="0"/>
              <a:t>1. Univariate Analysis — What Does the Data Look Like?</a:t>
            </a:r>
          </a:p>
        </p:txBody>
      </p:sp>
      <p:sp>
        <p:nvSpPr>
          <p:cNvPr id="4" name="Rectangle 3"/>
          <p:cNvSpPr/>
          <p:nvPr/>
        </p:nvSpPr>
        <p:spPr>
          <a:xfrm>
            <a:off x="731520" y="1417320"/>
            <a:ext cx="10698480" cy="1371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5029200" cy="430887"/>
          </a:xfrm>
          <a:prstGeom prst="rect">
            <a:avLst/>
          </a:prstGeom>
          <a:noFill/>
        </p:spPr>
        <p:txBody>
          <a:bodyPr wrap="square">
            <a:spAutoFit/>
          </a:bodyPr>
          <a:lstStyle/>
          <a:p>
            <a:pPr algn="l">
              <a:defRPr sz="2200" b="1">
                <a:solidFill>
                  <a:srgbClr val="468CE5"/>
                </a:solidFill>
              </a:defRPr>
            </a:pPr>
            <a:r>
              <a:rPr dirty="0"/>
              <a:t>Rating Difference Distribution</a:t>
            </a:r>
          </a:p>
        </p:txBody>
      </p:sp>
      <p:sp>
        <p:nvSpPr>
          <p:cNvPr id="6" name="Rounded Rectangle 5"/>
          <p:cNvSpPr/>
          <p:nvPr/>
        </p:nvSpPr>
        <p:spPr>
          <a:xfrm>
            <a:off x="463216" y="2176593"/>
            <a:ext cx="5297504" cy="2376001"/>
          </a:xfrm>
          <a:prstGeom prst="roundRect">
            <a:avLst/>
          </a:prstGeom>
          <a:solidFill>
            <a:srgbClr val="2435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0"/>
              </a:spcBef>
              <a:defRPr sz="1400">
                <a:solidFill>
                  <a:srgbClr val="999999"/>
                </a:solidFill>
              </a:defRPr>
            </a:pPr>
            <a:r>
              <a:rPr dirty="0"/>
              <a:t>[INSERT CHART]</a:t>
            </a:r>
            <a:br>
              <a:rPr dirty="0"/>
            </a:br>
            <a:r>
              <a:rPr dirty="0"/>
              <a:t>Rating Difference Histogram + Boxplot</a:t>
            </a:r>
          </a:p>
        </p:txBody>
      </p:sp>
      <p:sp>
        <p:nvSpPr>
          <p:cNvPr id="7" name="TextBox 6"/>
          <p:cNvSpPr txBox="1"/>
          <p:nvPr/>
        </p:nvSpPr>
        <p:spPr>
          <a:xfrm>
            <a:off x="731520" y="5212080"/>
            <a:ext cx="5029200" cy="4114800"/>
          </a:xfrm>
          <a:prstGeom prst="rect">
            <a:avLst/>
          </a:prstGeom>
          <a:noFill/>
        </p:spPr>
        <p:txBody>
          <a:bodyPr wrap="square">
            <a:spAutoFit/>
          </a:bodyPr>
          <a:lstStyle/>
          <a:p>
            <a:pPr>
              <a:spcAft>
                <a:spcPts val="520"/>
              </a:spcAft>
              <a:defRPr sz="1500">
                <a:solidFill>
                  <a:srgbClr val="E0E0E0"/>
                </a:solidFill>
              </a:defRPr>
            </a:pPr>
            <a:r>
              <a:t>Key Numbers:</a:t>
            </a:r>
          </a:p>
          <a:p>
            <a:pPr>
              <a:spcAft>
                <a:spcPts val="520"/>
              </a:spcAft>
              <a:defRPr sz="1500">
                <a:solidFill>
                  <a:srgbClr val="E0E0E0"/>
                </a:solidFill>
              </a:defRPr>
            </a:pPr>
            <a:r>
              <a:t>• Mean rating difference ≈ 0.00 — evenly matched</a:t>
            </a:r>
          </a:p>
          <a:p>
            <a:pPr>
              <a:spcAft>
                <a:spcPts val="520"/>
              </a:spcAft>
              <a:defRPr sz="1500">
                <a:solidFill>
                  <a:srgbClr val="E0E0E0"/>
                </a:solidFill>
              </a:defRPr>
            </a:pPr>
            <a:r>
              <a:t>• Range: −5 to +5</a:t>
            </a:r>
          </a:p>
          <a:p>
            <a:pPr>
              <a:spcAft>
                <a:spcPts val="520"/>
              </a:spcAft>
              <a:defRPr sz="1500">
                <a:solidFill>
                  <a:srgbClr val="E0E0E0"/>
                </a:solidFill>
              </a:defRPr>
            </a:pPr>
            <a:r>
              <a:t>• Symmetric, bell-shaped distribution</a:t>
            </a:r>
          </a:p>
        </p:txBody>
      </p:sp>
      <p:sp>
        <p:nvSpPr>
          <p:cNvPr id="8" name="TextBox 7"/>
          <p:cNvSpPr txBox="1"/>
          <p:nvPr/>
        </p:nvSpPr>
        <p:spPr>
          <a:xfrm>
            <a:off x="6400800" y="1645920"/>
            <a:ext cx="5029200" cy="430887"/>
          </a:xfrm>
          <a:prstGeom prst="rect">
            <a:avLst/>
          </a:prstGeom>
          <a:noFill/>
        </p:spPr>
        <p:txBody>
          <a:bodyPr wrap="square">
            <a:spAutoFit/>
          </a:bodyPr>
          <a:lstStyle/>
          <a:p>
            <a:pPr algn="l">
              <a:defRPr sz="2200" b="1">
                <a:solidFill>
                  <a:srgbClr val="E86A5C"/>
                </a:solidFill>
              </a:defRPr>
            </a:pPr>
            <a:r>
              <a:rPr dirty="0"/>
              <a:t> Formation Distribution</a:t>
            </a:r>
          </a:p>
        </p:txBody>
      </p:sp>
      <p:sp>
        <p:nvSpPr>
          <p:cNvPr id="9" name="Rounded Rectangle 8"/>
          <p:cNvSpPr/>
          <p:nvPr/>
        </p:nvSpPr>
        <p:spPr>
          <a:xfrm>
            <a:off x="6039853" y="2291691"/>
            <a:ext cx="5847347" cy="2376001"/>
          </a:xfrm>
          <a:prstGeom prst="roundRect">
            <a:avLst/>
          </a:prstGeom>
          <a:solidFill>
            <a:srgbClr val="2435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0"/>
              </a:spcBef>
              <a:defRPr sz="1400">
                <a:solidFill>
                  <a:srgbClr val="999999"/>
                </a:solidFill>
              </a:defRPr>
            </a:pPr>
            <a:r>
              <a:rPr dirty="0"/>
              <a:t>[INSERT CHART]</a:t>
            </a:r>
            <a:br>
              <a:rPr dirty="0"/>
            </a:br>
            <a:r>
              <a:rPr dirty="0"/>
              <a:t>Formation Bar Charts (Home vs Away)</a:t>
            </a:r>
          </a:p>
        </p:txBody>
      </p:sp>
      <p:sp>
        <p:nvSpPr>
          <p:cNvPr id="10" name="TextBox 9"/>
          <p:cNvSpPr txBox="1"/>
          <p:nvPr/>
        </p:nvSpPr>
        <p:spPr>
          <a:xfrm>
            <a:off x="6431280" y="4873271"/>
            <a:ext cx="4643788" cy="1208023"/>
          </a:xfrm>
          <a:prstGeom prst="rect">
            <a:avLst/>
          </a:prstGeom>
          <a:noFill/>
        </p:spPr>
        <p:txBody>
          <a:bodyPr wrap="square">
            <a:spAutoFit/>
          </a:bodyPr>
          <a:lstStyle/>
          <a:p>
            <a:pPr>
              <a:spcAft>
                <a:spcPts val="520"/>
              </a:spcAft>
              <a:defRPr sz="1500">
                <a:solidFill>
                  <a:srgbClr val="E0E0E0"/>
                </a:solidFill>
              </a:defRPr>
            </a:pPr>
            <a:r>
              <a:rPr dirty="0"/>
              <a:t>Key Numbers:</a:t>
            </a:r>
          </a:p>
          <a:p>
            <a:pPr>
              <a:spcAft>
                <a:spcPts val="520"/>
              </a:spcAft>
              <a:defRPr sz="1500">
                <a:solidFill>
                  <a:srgbClr val="E0E0E0"/>
                </a:solidFill>
              </a:defRPr>
            </a:pPr>
            <a:r>
              <a:rPr dirty="0"/>
              <a:t>• Formation 0 (4-2-3-1 / 4-3-3) = ~40%+ of all matches</a:t>
            </a:r>
          </a:p>
          <a:p>
            <a:pPr>
              <a:spcAft>
                <a:spcPts val="520"/>
              </a:spcAft>
              <a:defRPr sz="1500">
                <a:solidFill>
                  <a:srgbClr val="E0E0E0"/>
                </a:solidFill>
              </a:defRPr>
            </a:pPr>
            <a:r>
              <a:rPr dirty="0"/>
              <a:t>• Formation 2 (4-4-2) = ~25%+</a:t>
            </a:r>
          </a:p>
          <a:p>
            <a:pPr>
              <a:spcAft>
                <a:spcPts val="520"/>
              </a:spcAft>
              <a:defRPr sz="1500">
                <a:solidFill>
                  <a:srgbClr val="E0E0E0"/>
                </a:solidFill>
              </a:defRPr>
            </a:pPr>
            <a:r>
              <a:rPr dirty="0"/>
              <a:t>• Home &amp; away distributions nearly identical</a:t>
            </a:r>
          </a:p>
        </p:txBody>
      </p:sp>
      <p:sp>
        <p:nvSpPr>
          <p:cNvPr id="11" name="TextBox 10"/>
          <p:cNvSpPr txBox="1"/>
          <p:nvPr/>
        </p:nvSpPr>
        <p:spPr>
          <a:xfrm>
            <a:off x="762000" y="6376582"/>
            <a:ext cx="9856269" cy="276999"/>
          </a:xfrm>
          <a:prstGeom prst="rect">
            <a:avLst/>
          </a:prstGeom>
          <a:noFill/>
        </p:spPr>
        <p:txBody>
          <a:bodyPr wrap="square">
            <a:spAutoFit/>
          </a:bodyPr>
          <a:lstStyle/>
          <a:p>
            <a:pPr>
              <a:spcAft>
                <a:spcPts val="520"/>
              </a:spcAft>
              <a:defRPr sz="1200">
                <a:solidFill>
                  <a:srgbClr val="999999"/>
                </a:solidFill>
              </a:defRPr>
            </a:pPr>
            <a:r>
              <a:t>Formation Key:  0 = 2 def, 1 fwd (4-3-3)  |  1 = 3 def, 1 fwd (3-4-2-1)  |  2 = 2 def, 2 fwd (4-4-2)  |  3 = 3 def, 2 fwd (3-5-2)  |  4 = Other</a:t>
            </a:r>
          </a:p>
        </p:txBody>
      </p:sp>
      <p:sp>
        <p:nvSpPr>
          <p:cNvPr id="12" name="TextBox 11"/>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2 / 6</a:t>
            </a:r>
          </a:p>
        </p:txBody>
      </p:sp>
      <p:pic>
        <p:nvPicPr>
          <p:cNvPr id="14" name="Picture 13">
            <a:extLst>
              <a:ext uri="{FF2B5EF4-FFF2-40B4-BE49-F238E27FC236}">
                <a16:creationId xmlns:a16="http://schemas.microsoft.com/office/drawing/2014/main" id="{57F814B5-B094-E47D-9B96-82F444338BC9}"/>
              </a:ext>
            </a:extLst>
          </p:cNvPr>
          <p:cNvPicPr>
            <a:picLocks noChangeAspect="1"/>
          </p:cNvPicPr>
          <p:nvPr/>
        </p:nvPicPr>
        <p:blipFill>
          <a:blip r:embed="rId3"/>
          <a:stretch>
            <a:fillRect/>
          </a:stretch>
        </p:blipFill>
        <p:spPr>
          <a:xfrm>
            <a:off x="842210" y="2497853"/>
            <a:ext cx="4673266" cy="1647410"/>
          </a:xfrm>
          <a:prstGeom prst="rect">
            <a:avLst/>
          </a:prstGeom>
        </p:spPr>
      </p:pic>
      <p:pic>
        <p:nvPicPr>
          <p:cNvPr id="16" name="Picture 15">
            <a:extLst>
              <a:ext uri="{FF2B5EF4-FFF2-40B4-BE49-F238E27FC236}">
                <a16:creationId xmlns:a16="http://schemas.microsoft.com/office/drawing/2014/main" id="{1C1D6630-CF0A-ADEC-2EA8-8F8F8E121CC7}"/>
              </a:ext>
            </a:extLst>
          </p:cNvPr>
          <p:cNvPicPr>
            <a:picLocks noChangeAspect="1"/>
          </p:cNvPicPr>
          <p:nvPr/>
        </p:nvPicPr>
        <p:blipFill>
          <a:blip r:embed="rId4"/>
          <a:stretch>
            <a:fillRect/>
          </a:stretch>
        </p:blipFill>
        <p:spPr>
          <a:xfrm>
            <a:off x="6400800" y="2497270"/>
            <a:ext cx="5123240" cy="19022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3" name="TextBox 2"/>
          <p:cNvSpPr txBox="1"/>
          <p:nvPr/>
        </p:nvSpPr>
        <p:spPr>
          <a:xfrm>
            <a:off x="731520" y="365760"/>
            <a:ext cx="10698480" cy="914400"/>
          </a:xfrm>
          <a:prstGeom prst="rect">
            <a:avLst/>
          </a:prstGeom>
          <a:noFill/>
        </p:spPr>
        <p:txBody>
          <a:bodyPr wrap="square">
            <a:spAutoFit/>
          </a:bodyPr>
          <a:lstStyle/>
          <a:p>
            <a:pPr algn="l">
              <a:defRPr sz="3600" b="1">
                <a:solidFill>
                  <a:srgbClr val="FFFFFF"/>
                </a:solidFill>
              </a:defRPr>
            </a:pPr>
            <a:r>
              <a:t>2. Do Higher Ratings = More Goals?</a:t>
            </a:r>
          </a:p>
        </p:txBody>
      </p:sp>
      <p:sp>
        <p:nvSpPr>
          <p:cNvPr id="4" name="Rectangle 3"/>
          <p:cNvSpPr/>
          <p:nvPr/>
        </p:nvSpPr>
        <p:spPr>
          <a:xfrm>
            <a:off x="731520" y="1417320"/>
            <a:ext cx="10698480" cy="1371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698480" cy="430887"/>
          </a:xfrm>
          <a:prstGeom prst="rect">
            <a:avLst/>
          </a:prstGeom>
          <a:noFill/>
        </p:spPr>
        <p:txBody>
          <a:bodyPr wrap="square">
            <a:spAutoFit/>
          </a:bodyPr>
          <a:lstStyle/>
          <a:p>
            <a:pPr algn="l">
              <a:defRPr sz="2200" b="1">
                <a:solidFill>
                  <a:srgbClr val="468CE5"/>
                </a:solidFill>
              </a:defRPr>
            </a:pPr>
            <a:r>
              <a:rPr dirty="0"/>
              <a:t>Rating Difference vs Goal Difference</a:t>
            </a:r>
          </a:p>
        </p:txBody>
      </p:sp>
      <p:sp>
        <p:nvSpPr>
          <p:cNvPr id="6" name="Rounded Rectangle 5"/>
          <p:cNvSpPr/>
          <p:nvPr/>
        </p:nvSpPr>
        <p:spPr>
          <a:xfrm>
            <a:off x="731520" y="2194560"/>
            <a:ext cx="6400800" cy="3474720"/>
          </a:xfrm>
          <a:prstGeom prst="roundRect">
            <a:avLst/>
          </a:prstGeom>
          <a:solidFill>
            <a:srgbClr val="2435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0"/>
              </a:spcBef>
              <a:defRPr sz="1400">
                <a:solidFill>
                  <a:srgbClr val="999999"/>
                </a:solidFill>
              </a:defRPr>
            </a:pPr>
            <a:r>
              <a:rPr dirty="0"/>
              <a:t>[INSERT CHART]</a:t>
            </a:r>
            <a:br>
              <a:rPr dirty="0"/>
            </a:br>
            <a:r>
              <a:rPr dirty="0"/>
              <a:t>Scatter Plot + </a:t>
            </a:r>
            <a:r>
              <a:rPr dirty="0" err="1"/>
              <a:t>Hexbin</a:t>
            </a:r>
            <a:r>
              <a:rPr dirty="0"/>
              <a:t> Density</a:t>
            </a:r>
          </a:p>
        </p:txBody>
      </p:sp>
      <p:sp>
        <p:nvSpPr>
          <p:cNvPr id="7" name="Rounded Rectangle 6"/>
          <p:cNvSpPr/>
          <p:nvPr/>
        </p:nvSpPr>
        <p:spPr>
          <a:xfrm>
            <a:off x="8295774" y="1457024"/>
            <a:ext cx="2652963" cy="4132848"/>
          </a:xfrm>
          <a:prstGeom prst="roundRect">
            <a:avLst/>
          </a:prstGeom>
          <a:solidFill>
            <a:srgbClr val="24355C"/>
          </a:solidFill>
          <a:ln w="25400">
            <a:solidFill>
              <a:srgbClr val="468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17280" y="1651936"/>
            <a:ext cx="3474720" cy="4114800"/>
          </a:xfrm>
          <a:prstGeom prst="rect">
            <a:avLst/>
          </a:prstGeom>
          <a:noFill/>
        </p:spPr>
        <p:txBody>
          <a:bodyPr wrap="square">
            <a:spAutoFit/>
          </a:bodyPr>
          <a:lstStyle/>
          <a:p>
            <a:pPr>
              <a:spcAft>
                <a:spcPts val="320"/>
              </a:spcAft>
              <a:defRPr sz="1700">
                <a:solidFill>
                  <a:srgbClr val="FFFFFF"/>
                </a:solidFill>
              </a:defRPr>
            </a:pPr>
            <a:r>
              <a:rPr dirty="0"/>
              <a:t>  KEY STATISTICS</a:t>
            </a:r>
          </a:p>
          <a:p>
            <a:pPr>
              <a:spcAft>
                <a:spcPts val="320"/>
              </a:spcAft>
              <a:defRPr sz="1700">
                <a:solidFill>
                  <a:srgbClr val="FFFFFF"/>
                </a:solidFill>
              </a:defRPr>
            </a:pPr>
            <a:endParaRPr dirty="0"/>
          </a:p>
          <a:p>
            <a:pPr>
              <a:spcAft>
                <a:spcPts val="320"/>
              </a:spcAft>
              <a:defRPr sz="1700">
                <a:solidFill>
                  <a:srgbClr val="FFFFFF"/>
                </a:solidFill>
              </a:defRPr>
            </a:pPr>
            <a:r>
              <a:rPr dirty="0"/>
              <a:t>  Correlation:</a:t>
            </a:r>
          </a:p>
          <a:p>
            <a:pPr>
              <a:spcAft>
                <a:spcPts val="320"/>
              </a:spcAft>
              <a:defRPr sz="1700">
                <a:solidFill>
                  <a:srgbClr val="FFFFFF"/>
                </a:solidFill>
              </a:defRPr>
            </a:pPr>
            <a:r>
              <a:rPr dirty="0"/>
              <a:t>  r ≈ 0.50</a:t>
            </a:r>
          </a:p>
          <a:p>
            <a:pPr>
              <a:spcAft>
                <a:spcPts val="320"/>
              </a:spcAft>
              <a:defRPr sz="1700">
                <a:solidFill>
                  <a:srgbClr val="FFFFFF"/>
                </a:solidFill>
              </a:defRPr>
            </a:pPr>
            <a:endParaRPr dirty="0"/>
          </a:p>
          <a:p>
            <a:pPr>
              <a:spcAft>
                <a:spcPts val="320"/>
              </a:spcAft>
              <a:defRPr sz="1700">
                <a:solidFill>
                  <a:srgbClr val="FFFFFF"/>
                </a:solidFill>
              </a:defRPr>
            </a:pPr>
            <a:r>
              <a:rPr dirty="0"/>
              <a:t>  Trend line slope:</a:t>
            </a:r>
          </a:p>
          <a:p>
            <a:pPr>
              <a:spcAft>
                <a:spcPts val="320"/>
              </a:spcAft>
              <a:defRPr sz="1700">
                <a:solidFill>
                  <a:srgbClr val="FFFFFF"/>
                </a:solidFill>
              </a:defRPr>
            </a:pPr>
            <a:r>
              <a:rPr dirty="0"/>
              <a:t>  +0.44 goals per</a:t>
            </a:r>
          </a:p>
          <a:p>
            <a:pPr>
              <a:spcAft>
                <a:spcPts val="320"/>
              </a:spcAft>
              <a:defRPr sz="1700">
                <a:solidFill>
                  <a:srgbClr val="FFFFFF"/>
                </a:solidFill>
              </a:defRPr>
            </a:pPr>
            <a:r>
              <a:rPr dirty="0"/>
              <a:t>  +1 rating point</a:t>
            </a:r>
          </a:p>
          <a:p>
            <a:pPr>
              <a:spcAft>
                <a:spcPts val="320"/>
              </a:spcAft>
              <a:defRPr sz="1700">
                <a:solidFill>
                  <a:srgbClr val="FFFFFF"/>
                </a:solidFill>
              </a:defRPr>
            </a:pPr>
            <a:endParaRPr dirty="0"/>
          </a:p>
          <a:p>
            <a:pPr>
              <a:spcAft>
                <a:spcPts val="320"/>
              </a:spcAft>
              <a:defRPr sz="1700">
                <a:solidFill>
                  <a:srgbClr val="FFFFFF"/>
                </a:solidFill>
              </a:defRPr>
            </a:pPr>
            <a:r>
              <a:rPr dirty="0"/>
              <a:t>  Highest density:</a:t>
            </a:r>
          </a:p>
          <a:p>
            <a:pPr>
              <a:spcAft>
                <a:spcPts val="320"/>
              </a:spcAft>
              <a:defRPr sz="1700">
                <a:solidFill>
                  <a:srgbClr val="FFFFFF"/>
                </a:solidFill>
              </a:defRPr>
            </a:pPr>
            <a:r>
              <a:rPr dirty="0"/>
              <a:t>  near (0, 0)</a:t>
            </a:r>
          </a:p>
          <a:p>
            <a:pPr>
              <a:spcAft>
                <a:spcPts val="320"/>
              </a:spcAft>
              <a:defRPr sz="1700">
                <a:solidFill>
                  <a:srgbClr val="FFFFFF"/>
                </a:solidFill>
              </a:defRPr>
            </a:pPr>
            <a:r>
              <a:rPr dirty="0"/>
              <a:t>  → close matches</a:t>
            </a:r>
          </a:p>
          <a:p>
            <a:pPr>
              <a:spcAft>
                <a:spcPts val="320"/>
              </a:spcAft>
              <a:defRPr sz="1700">
                <a:solidFill>
                  <a:srgbClr val="FFFFFF"/>
                </a:solidFill>
              </a:defRPr>
            </a:pPr>
            <a:r>
              <a:rPr dirty="0"/>
              <a:t>     dominate</a:t>
            </a:r>
          </a:p>
        </p:txBody>
      </p:sp>
      <p:sp>
        <p:nvSpPr>
          <p:cNvPr id="9" name="TextBox 8"/>
          <p:cNvSpPr txBox="1"/>
          <p:nvPr/>
        </p:nvSpPr>
        <p:spPr>
          <a:xfrm>
            <a:off x="731520" y="5943600"/>
            <a:ext cx="9784080" cy="338554"/>
          </a:xfrm>
          <a:prstGeom prst="rect">
            <a:avLst/>
          </a:prstGeom>
          <a:noFill/>
        </p:spPr>
        <p:txBody>
          <a:bodyPr wrap="square">
            <a:spAutoFit/>
          </a:bodyPr>
          <a:lstStyle/>
          <a:p>
            <a:pPr>
              <a:spcAft>
                <a:spcPts val="520"/>
              </a:spcAft>
              <a:defRPr sz="1600">
                <a:solidFill>
                  <a:srgbClr val="F0C040"/>
                </a:solidFill>
              </a:defRPr>
            </a:pPr>
            <a:r>
              <a:t>💡 In football analytics, r = 0.50 is actually quite strong — football is a low-scoring, high-variance sport.</a:t>
            </a:r>
          </a:p>
        </p:txBody>
      </p:sp>
      <p:sp>
        <p:nvSpPr>
          <p:cNvPr id="10" name="TextBox 9"/>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3 / 6</a:t>
            </a:r>
          </a:p>
        </p:txBody>
      </p:sp>
      <p:pic>
        <p:nvPicPr>
          <p:cNvPr id="12" name="Picture 11">
            <a:extLst>
              <a:ext uri="{FF2B5EF4-FFF2-40B4-BE49-F238E27FC236}">
                <a16:creationId xmlns:a16="http://schemas.microsoft.com/office/drawing/2014/main" id="{B84D9DE1-77D9-FD2E-03F3-485874B05C3F}"/>
              </a:ext>
            </a:extLst>
          </p:cNvPr>
          <p:cNvPicPr>
            <a:picLocks noChangeAspect="1"/>
          </p:cNvPicPr>
          <p:nvPr/>
        </p:nvPicPr>
        <p:blipFill>
          <a:blip r:embed="rId3"/>
          <a:stretch>
            <a:fillRect/>
          </a:stretch>
        </p:blipFill>
        <p:spPr>
          <a:xfrm>
            <a:off x="804672" y="2793251"/>
            <a:ext cx="6095999" cy="24433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3" name="TextBox 2"/>
          <p:cNvSpPr txBox="1"/>
          <p:nvPr/>
        </p:nvSpPr>
        <p:spPr>
          <a:xfrm>
            <a:off x="731520" y="365760"/>
            <a:ext cx="10698480" cy="914400"/>
          </a:xfrm>
          <a:prstGeom prst="rect">
            <a:avLst/>
          </a:prstGeom>
          <a:noFill/>
        </p:spPr>
        <p:txBody>
          <a:bodyPr wrap="square">
            <a:spAutoFit/>
          </a:bodyPr>
          <a:lstStyle/>
          <a:p>
            <a:pPr algn="l">
              <a:defRPr sz="3600" b="1">
                <a:solidFill>
                  <a:srgbClr val="FFFFFF"/>
                </a:solidFill>
              </a:defRPr>
            </a:pPr>
            <a:r>
              <a:t>3. Player Ratings Predict Match Outcomes</a:t>
            </a:r>
          </a:p>
        </p:txBody>
      </p:sp>
      <p:sp>
        <p:nvSpPr>
          <p:cNvPr id="4" name="Rectangle 3"/>
          <p:cNvSpPr/>
          <p:nvPr/>
        </p:nvSpPr>
        <p:spPr>
          <a:xfrm>
            <a:off x="731520" y="1417320"/>
            <a:ext cx="10698480" cy="1371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698480" cy="430887"/>
          </a:xfrm>
          <a:prstGeom prst="rect">
            <a:avLst/>
          </a:prstGeom>
          <a:noFill/>
        </p:spPr>
        <p:txBody>
          <a:bodyPr wrap="square">
            <a:spAutoFit/>
          </a:bodyPr>
          <a:lstStyle/>
          <a:p>
            <a:pPr algn="l">
              <a:defRPr sz="2200" b="1">
                <a:solidFill>
                  <a:srgbClr val="468CE5"/>
                </a:solidFill>
              </a:defRPr>
            </a:pPr>
            <a:r>
              <a:rPr dirty="0"/>
              <a:t>Rating Difference by Match Result</a:t>
            </a:r>
          </a:p>
        </p:txBody>
      </p:sp>
      <p:sp>
        <p:nvSpPr>
          <p:cNvPr id="6" name="Rounded Rectangle 5"/>
          <p:cNvSpPr/>
          <p:nvPr/>
        </p:nvSpPr>
        <p:spPr>
          <a:xfrm>
            <a:off x="731520" y="2194560"/>
            <a:ext cx="6858000" cy="3200400"/>
          </a:xfrm>
          <a:prstGeom prst="roundRect">
            <a:avLst/>
          </a:prstGeom>
          <a:solidFill>
            <a:srgbClr val="2435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7000"/>
              </a:spcBef>
              <a:defRPr sz="1400">
                <a:solidFill>
                  <a:srgbClr val="999999"/>
                </a:solidFill>
              </a:defRPr>
            </a:pPr>
            <a:r>
              <a:t>[INSERT CHART]</a:t>
            </a:r>
            <a:br/>
            <a:r>
              <a:t>Boxplot: Rating Difference grouped by Match Result</a:t>
            </a:r>
          </a:p>
        </p:txBody>
      </p:sp>
      <p:sp>
        <p:nvSpPr>
          <p:cNvPr id="7" name="TextBox 6"/>
          <p:cNvSpPr txBox="1"/>
          <p:nvPr/>
        </p:nvSpPr>
        <p:spPr>
          <a:xfrm>
            <a:off x="7670131" y="2953504"/>
            <a:ext cx="4217069" cy="1682512"/>
          </a:xfrm>
          <a:prstGeom prst="rect">
            <a:avLst/>
          </a:prstGeom>
          <a:noFill/>
        </p:spPr>
        <p:txBody>
          <a:bodyPr wrap="square">
            <a:spAutoFit/>
          </a:bodyPr>
          <a:lstStyle/>
          <a:p>
            <a:pPr>
              <a:spcAft>
                <a:spcPts val="400"/>
              </a:spcAft>
              <a:defRPr sz="1800">
                <a:solidFill>
                  <a:srgbClr val="FFFFFF"/>
                </a:solidFill>
              </a:defRPr>
            </a:pPr>
            <a:r>
              <a:rPr dirty="0"/>
              <a:t>  Match Result       Avg Rating Diff</a:t>
            </a:r>
          </a:p>
          <a:p>
            <a:pPr>
              <a:spcAft>
                <a:spcPts val="400"/>
              </a:spcAft>
              <a:defRPr sz="1800">
                <a:solidFill>
                  <a:srgbClr val="FFFFFF"/>
                </a:solidFill>
              </a:defRPr>
            </a:pPr>
            <a:r>
              <a:rPr dirty="0"/>
              <a:t>  ─────────────────────────────────</a:t>
            </a:r>
          </a:p>
          <a:p>
            <a:pPr>
              <a:spcAft>
                <a:spcPts val="400"/>
              </a:spcAft>
              <a:defRPr sz="1800">
                <a:solidFill>
                  <a:srgbClr val="FFFFFF"/>
                </a:solidFill>
              </a:defRPr>
            </a:pPr>
            <a:r>
              <a:rPr dirty="0"/>
              <a:t>  🏠 Home Win         +0.75</a:t>
            </a:r>
          </a:p>
          <a:p>
            <a:pPr>
              <a:spcAft>
                <a:spcPts val="400"/>
              </a:spcAft>
              <a:defRPr sz="1800">
                <a:solidFill>
                  <a:srgbClr val="FFFFFF"/>
                </a:solidFill>
              </a:defRPr>
            </a:pPr>
            <a:r>
              <a:rPr dirty="0"/>
              <a:t>  🤝 Draw              −0.05</a:t>
            </a:r>
          </a:p>
          <a:p>
            <a:pPr>
              <a:spcAft>
                <a:spcPts val="400"/>
              </a:spcAft>
              <a:defRPr sz="1800">
                <a:solidFill>
                  <a:srgbClr val="FFFFFF"/>
                </a:solidFill>
              </a:defRPr>
            </a:pPr>
            <a:r>
              <a:rPr dirty="0"/>
              <a:t>  ✈️ Away Win         −0.69</a:t>
            </a:r>
          </a:p>
        </p:txBody>
      </p:sp>
      <p:sp>
        <p:nvSpPr>
          <p:cNvPr id="8" name="TextBox 7"/>
          <p:cNvSpPr txBox="1"/>
          <p:nvPr/>
        </p:nvSpPr>
        <p:spPr>
          <a:xfrm>
            <a:off x="731520" y="5669280"/>
            <a:ext cx="10698480" cy="4114800"/>
          </a:xfrm>
          <a:prstGeom prst="rect">
            <a:avLst/>
          </a:prstGeom>
          <a:noFill/>
        </p:spPr>
        <p:txBody>
          <a:bodyPr wrap="square">
            <a:spAutoFit/>
          </a:bodyPr>
          <a:lstStyle/>
          <a:p>
            <a:pPr>
              <a:spcAft>
                <a:spcPts val="520"/>
              </a:spcAft>
              <a:defRPr sz="1800">
                <a:solidFill>
                  <a:srgbClr val="F0C040"/>
                </a:solidFill>
              </a:defRPr>
            </a:pPr>
            <a:r>
              <a:rPr dirty="0"/>
              <a:t>💡 A perfect gradient:</a:t>
            </a:r>
          </a:p>
          <a:p>
            <a:pPr>
              <a:spcAft>
                <a:spcPts val="520"/>
              </a:spcAft>
              <a:defRPr sz="1800">
                <a:solidFill>
                  <a:srgbClr val="F0C040"/>
                </a:solidFill>
              </a:defRPr>
            </a:pPr>
            <a:r>
              <a:rPr dirty="0"/>
              <a:t>    Home rated higher → Home wins  |  Ratings equal → Draw  |  Away rated higher → Away wins</a:t>
            </a:r>
          </a:p>
        </p:txBody>
      </p:sp>
      <p:sp>
        <p:nvSpPr>
          <p:cNvPr id="9" name="TextBox 8"/>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4 / 6</a:t>
            </a:r>
          </a:p>
        </p:txBody>
      </p:sp>
      <p:pic>
        <p:nvPicPr>
          <p:cNvPr id="11" name="Picture 10">
            <a:extLst>
              <a:ext uri="{FF2B5EF4-FFF2-40B4-BE49-F238E27FC236}">
                <a16:creationId xmlns:a16="http://schemas.microsoft.com/office/drawing/2014/main" id="{382B0FC9-3DCC-AEE0-D69D-2E918325BBC8}"/>
              </a:ext>
            </a:extLst>
          </p:cNvPr>
          <p:cNvPicPr>
            <a:picLocks noChangeAspect="1"/>
          </p:cNvPicPr>
          <p:nvPr/>
        </p:nvPicPr>
        <p:blipFill>
          <a:blip r:embed="rId3"/>
          <a:stretch>
            <a:fillRect/>
          </a:stretch>
        </p:blipFill>
        <p:spPr>
          <a:xfrm>
            <a:off x="1301628" y="2237874"/>
            <a:ext cx="4996903" cy="29809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3" name="TextBox 2"/>
          <p:cNvSpPr txBox="1"/>
          <p:nvPr/>
        </p:nvSpPr>
        <p:spPr>
          <a:xfrm>
            <a:off x="731520" y="365760"/>
            <a:ext cx="10698480" cy="914400"/>
          </a:xfrm>
          <a:prstGeom prst="rect">
            <a:avLst/>
          </a:prstGeom>
          <a:noFill/>
        </p:spPr>
        <p:txBody>
          <a:bodyPr wrap="square">
            <a:spAutoFit/>
          </a:bodyPr>
          <a:lstStyle/>
          <a:p>
            <a:pPr algn="l">
              <a:defRPr sz="3600" b="1">
                <a:solidFill>
                  <a:srgbClr val="FFFFFF"/>
                </a:solidFill>
              </a:defRPr>
            </a:pPr>
            <a:r>
              <a:t>4. Do Formations Matter? — Barely</a:t>
            </a:r>
          </a:p>
        </p:txBody>
      </p:sp>
      <p:sp>
        <p:nvSpPr>
          <p:cNvPr id="4" name="Rectangle 3"/>
          <p:cNvSpPr/>
          <p:nvPr/>
        </p:nvSpPr>
        <p:spPr>
          <a:xfrm>
            <a:off x="731520" y="1417320"/>
            <a:ext cx="10698480" cy="1371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698480" cy="430887"/>
          </a:xfrm>
          <a:prstGeom prst="rect">
            <a:avLst/>
          </a:prstGeom>
          <a:noFill/>
        </p:spPr>
        <p:txBody>
          <a:bodyPr wrap="square">
            <a:spAutoFit/>
          </a:bodyPr>
          <a:lstStyle/>
          <a:p>
            <a:pPr algn="l">
              <a:defRPr sz="2200" b="1">
                <a:solidFill>
                  <a:srgbClr val="E86A5C"/>
                </a:solidFill>
              </a:defRPr>
            </a:pPr>
            <a:r>
              <a:rPr dirty="0"/>
              <a:t>Match Result % by Home Formation (Top 8)</a:t>
            </a:r>
          </a:p>
        </p:txBody>
      </p:sp>
      <p:sp>
        <p:nvSpPr>
          <p:cNvPr id="6" name="Rounded Rectangle 5"/>
          <p:cNvSpPr/>
          <p:nvPr/>
        </p:nvSpPr>
        <p:spPr>
          <a:xfrm>
            <a:off x="731520" y="2194560"/>
            <a:ext cx="6858000" cy="3200400"/>
          </a:xfrm>
          <a:prstGeom prst="roundRect">
            <a:avLst/>
          </a:prstGeom>
          <a:solidFill>
            <a:srgbClr val="2435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7000"/>
              </a:spcBef>
              <a:defRPr sz="1400">
                <a:solidFill>
                  <a:srgbClr val="999999"/>
                </a:solidFill>
              </a:defRPr>
            </a:pPr>
            <a:r>
              <a:t>[INSERT CHART]</a:t>
            </a:r>
            <a:br/>
            <a:r>
              <a:t>Grouped Bar Chart: Win % by Formation</a:t>
            </a:r>
          </a:p>
        </p:txBody>
      </p:sp>
      <p:sp>
        <p:nvSpPr>
          <p:cNvPr id="7" name="TextBox 6"/>
          <p:cNvSpPr txBox="1"/>
          <p:nvPr/>
        </p:nvSpPr>
        <p:spPr>
          <a:xfrm>
            <a:off x="8046720" y="2194560"/>
            <a:ext cx="3474720" cy="4114800"/>
          </a:xfrm>
          <a:prstGeom prst="rect">
            <a:avLst/>
          </a:prstGeom>
          <a:noFill/>
        </p:spPr>
        <p:txBody>
          <a:bodyPr wrap="square">
            <a:spAutoFit/>
          </a:bodyPr>
          <a:lstStyle/>
          <a:p>
            <a:pPr>
              <a:spcAft>
                <a:spcPts val="320"/>
              </a:spcAft>
              <a:defRPr sz="1600">
                <a:solidFill>
                  <a:srgbClr val="FFFFFF"/>
                </a:solidFill>
              </a:defRPr>
            </a:pPr>
            <a:r>
              <a:t>  Key Numbers:</a:t>
            </a:r>
          </a:p>
          <a:p>
            <a:pPr>
              <a:spcAft>
                <a:spcPts val="320"/>
              </a:spcAft>
              <a:defRPr sz="1600">
                <a:solidFill>
                  <a:srgbClr val="FFFFFF"/>
                </a:solidFill>
              </a:defRPr>
            </a:pPr>
            <a:endParaRPr/>
          </a:p>
          <a:p>
            <a:pPr>
              <a:spcAft>
                <a:spcPts val="320"/>
              </a:spcAft>
              <a:defRPr sz="1600">
                <a:solidFill>
                  <a:srgbClr val="FFFFFF"/>
                </a:solidFill>
              </a:defRPr>
            </a:pPr>
            <a:r>
              <a:t>  • Home win % across top 8 formations: 44–47%</a:t>
            </a:r>
          </a:p>
          <a:p>
            <a:pPr>
              <a:spcAft>
                <a:spcPts val="320"/>
              </a:spcAft>
              <a:defRPr sz="1600">
                <a:solidFill>
                  <a:srgbClr val="FFFFFF"/>
                </a:solidFill>
              </a:defRPr>
            </a:pPr>
            <a:r>
              <a:t>  • Variation between formations: ≤ 3 pct points</a:t>
            </a:r>
          </a:p>
          <a:p>
            <a:pPr>
              <a:spcAft>
                <a:spcPts val="320"/>
              </a:spcAft>
              <a:defRPr sz="1600">
                <a:solidFill>
                  <a:srgbClr val="FFFFFF"/>
                </a:solidFill>
              </a:defRPr>
            </a:pPr>
            <a:r>
              <a:t>  • Draw %: 25–28% across all formations</a:t>
            </a:r>
          </a:p>
          <a:p>
            <a:pPr>
              <a:spcAft>
                <a:spcPts val="320"/>
              </a:spcAft>
              <a:defRPr sz="1600">
                <a:solidFill>
                  <a:srgbClr val="FFFFFF"/>
                </a:solidFill>
              </a:defRPr>
            </a:pPr>
            <a:r>
              <a:t>  • Away win %: 27–29% across all formations</a:t>
            </a:r>
          </a:p>
          <a:p>
            <a:pPr>
              <a:spcAft>
                <a:spcPts val="320"/>
              </a:spcAft>
              <a:defRPr sz="1600">
                <a:solidFill>
                  <a:srgbClr val="FFFFFF"/>
                </a:solidFill>
              </a:defRPr>
            </a:pPr>
            <a:endParaRPr/>
          </a:p>
          <a:p>
            <a:pPr>
              <a:spcAft>
                <a:spcPts val="320"/>
              </a:spcAft>
              <a:defRPr sz="1600">
                <a:solidFill>
                  <a:srgbClr val="FFFFFF"/>
                </a:solidFill>
              </a:defRPr>
            </a:pPr>
            <a:r>
              <a:t>  → No formation is a magic bullet!</a:t>
            </a:r>
          </a:p>
        </p:txBody>
      </p:sp>
      <p:sp>
        <p:nvSpPr>
          <p:cNvPr id="8" name="TextBox 7"/>
          <p:cNvSpPr txBox="1"/>
          <p:nvPr/>
        </p:nvSpPr>
        <p:spPr>
          <a:xfrm>
            <a:off x="731520" y="5669280"/>
            <a:ext cx="10096901" cy="710451"/>
          </a:xfrm>
          <a:prstGeom prst="rect">
            <a:avLst/>
          </a:prstGeom>
          <a:noFill/>
        </p:spPr>
        <p:txBody>
          <a:bodyPr wrap="square">
            <a:spAutoFit/>
          </a:bodyPr>
          <a:lstStyle/>
          <a:p>
            <a:pPr>
              <a:spcAft>
                <a:spcPts val="520"/>
              </a:spcAft>
              <a:defRPr sz="1800">
                <a:solidFill>
                  <a:srgbClr val="F0C040"/>
                </a:solidFill>
              </a:defRPr>
            </a:pPr>
            <a:r>
              <a:t>💡 Manchester City playing 4-4-2 beats a relegation side playing 4-3-3 every time.</a:t>
            </a:r>
          </a:p>
          <a:p>
            <a:pPr>
              <a:spcAft>
                <a:spcPts val="520"/>
              </a:spcAft>
              <a:defRPr sz="1800">
                <a:solidFill>
                  <a:srgbClr val="F0C040"/>
                </a:solidFill>
              </a:defRPr>
            </a:pPr>
            <a:r>
              <a:t>    Quality of the players matters far more than how you arrange them.</a:t>
            </a:r>
          </a:p>
        </p:txBody>
      </p:sp>
      <p:sp>
        <p:nvSpPr>
          <p:cNvPr id="9" name="TextBox 8"/>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5 / 6</a:t>
            </a:r>
          </a:p>
        </p:txBody>
      </p:sp>
      <p:pic>
        <p:nvPicPr>
          <p:cNvPr id="11" name="Picture 10">
            <a:extLst>
              <a:ext uri="{FF2B5EF4-FFF2-40B4-BE49-F238E27FC236}">
                <a16:creationId xmlns:a16="http://schemas.microsoft.com/office/drawing/2014/main" id="{52BFBA51-5DEF-D6D1-FCB5-E50A5425196D}"/>
              </a:ext>
            </a:extLst>
          </p:cNvPr>
          <p:cNvPicPr>
            <a:picLocks noChangeAspect="1"/>
          </p:cNvPicPr>
          <p:nvPr/>
        </p:nvPicPr>
        <p:blipFill>
          <a:blip r:embed="rId3"/>
          <a:stretch>
            <a:fillRect/>
          </a:stretch>
        </p:blipFill>
        <p:spPr>
          <a:xfrm>
            <a:off x="1377867" y="2435783"/>
            <a:ext cx="5477368" cy="27179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731520" y="1371600"/>
            <a:ext cx="10698480" cy="73152"/>
          </a:xfrm>
          <a:prstGeom prst="rect">
            <a:avLst/>
          </a:prstGeom>
          <a:solidFill>
            <a:srgbClr val="468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698480" cy="731520"/>
          </a:xfrm>
          <a:prstGeom prst="rect">
            <a:avLst/>
          </a:prstGeom>
          <a:noFill/>
        </p:spPr>
        <p:txBody>
          <a:bodyPr wrap="square">
            <a:spAutoFit/>
          </a:bodyPr>
          <a:lstStyle/>
          <a:p>
            <a:pPr algn="ctr">
              <a:defRPr sz="4000" b="1">
                <a:solidFill>
                  <a:srgbClr val="FFFFFF"/>
                </a:solidFill>
              </a:defRPr>
            </a:pPr>
            <a:r>
              <a:t>Final Answer</a:t>
            </a:r>
          </a:p>
        </p:txBody>
      </p:sp>
      <p:sp>
        <p:nvSpPr>
          <p:cNvPr id="4" name="TextBox 3"/>
          <p:cNvSpPr txBox="1"/>
          <p:nvPr/>
        </p:nvSpPr>
        <p:spPr>
          <a:xfrm>
            <a:off x="731520" y="1645920"/>
            <a:ext cx="10698480" cy="1371600"/>
          </a:xfrm>
          <a:prstGeom prst="rect">
            <a:avLst/>
          </a:prstGeom>
          <a:noFill/>
        </p:spPr>
        <p:txBody>
          <a:bodyPr wrap="square">
            <a:spAutoFit/>
          </a:bodyPr>
          <a:lstStyle/>
          <a:p>
            <a:pPr algn="ctr">
              <a:spcAft>
                <a:spcPts val="520"/>
              </a:spcAft>
              <a:defRPr sz="2200">
                <a:solidFill>
                  <a:srgbClr val="F0C040"/>
                </a:solidFill>
              </a:defRPr>
            </a:pPr>
            <a:r>
              <a:t>"Team player ratings are a strong predictor of match performance.</a:t>
            </a:r>
          </a:p>
          <a:p>
            <a:pPr algn="ctr">
              <a:spcAft>
                <a:spcPts val="520"/>
              </a:spcAft>
              <a:defRPr sz="2200">
                <a:solidFill>
                  <a:srgbClr val="F0C040"/>
                </a:solidFill>
              </a:defRPr>
            </a:pPr>
            <a:r>
              <a:t> Team formations, by contrast, show only a weak association with results."</a:t>
            </a:r>
          </a:p>
        </p:txBody>
      </p:sp>
      <p:sp>
        <p:nvSpPr>
          <p:cNvPr id="5" name="Rectangle 4"/>
          <p:cNvSpPr/>
          <p:nvPr/>
        </p:nvSpPr>
        <p:spPr>
          <a:xfrm>
            <a:off x="731520" y="3017520"/>
            <a:ext cx="10698480" cy="1371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70083"/>
            <a:ext cx="10698480" cy="914400"/>
          </a:xfrm>
          <a:prstGeom prst="rect">
            <a:avLst/>
          </a:prstGeom>
          <a:noFill/>
        </p:spPr>
        <p:txBody>
          <a:bodyPr wrap="square">
            <a:spAutoFit/>
          </a:bodyPr>
          <a:lstStyle/>
          <a:p>
            <a:pPr algn="ctr">
              <a:defRPr sz="2400" b="1">
                <a:solidFill>
                  <a:srgbClr val="FFFFFF"/>
                </a:solidFill>
              </a:defRPr>
            </a:pPr>
            <a:r>
              <a:rPr dirty="0"/>
              <a:t>Three Key Takeaways</a:t>
            </a:r>
          </a:p>
        </p:txBody>
      </p:sp>
      <p:sp>
        <p:nvSpPr>
          <p:cNvPr id="7" name="Rounded Rectangle 6"/>
          <p:cNvSpPr/>
          <p:nvPr/>
        </p:nvSpPr>
        <p:spPr>
          <a:xfrm>
            <a:off x="731520" y="3291840"/>
            <a:ext cx="3200400" cy="2286000"/>
          </a:xfrm>
          <a:prstGeom prst="roundRect">
            <a:avLst/>
          </a:prstGeom>
          <a:solidFill>
            <a:srgbClr val="24355C"/>
          </a:solidFill>
          <a:ln w="25400">
            <a:solidFill>
              <a:srgbClr val="468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7761" y="3291840"/>
            <a:ext cx="2644139" cy="2200602"/>
          </a:xfrm>
          <a:prstGeom prst="rect">
            <a:avLst/>
          </a:prstGeom>
          <a:noFill/>
        </p:spPr>
        <p:txBody>
          <a:bodyPr wrap="square">
            <a:spAutoFit/>
          </a:bodyPr>
          <a:lstStyle/>
          <a:p>
            <a:pPr>
              <a:spcAft>
                <a:spcPts val="520"/>
              </a:spcAft>
              <a:defRPr sz="1600">
                <a:solidFill>
                  <a:srgbClr val="FFFFFF"/>
                </a:solidFill>
              </a:defRPr>
            </a:pPr>
            <a:r>
              <a:rPr dirty="0"/>
              <a:t>🎯 Ratings → Goals</a:t>
            </a:r>
          </a:p>
          <a:p>
            <a:pPr>
              <a:spcAft>
                <a:spcPts val="520"/>
              </a:spcAft>
              <a:defRPr sz="1600">
                <a:solidFill>
                  <a:srgbClr val="FFFFFF"/>
                </a:solidFill>
              </a:defRPr>
            </a:pPr>
            <a:endParaRPr dirty="0"/>
          </a:p>
          <a:p>
            <a:pPr>
              <a:spcAft>
                <a:spcPts val="520"/>
              </a:spcAft>
              <a:defRPr sz="1600">
                <a:solidFill>
                  <a:srgbClr val="FFFFFF"/>
                </a:solidFill>
              </a:defRPr>
            </a:pPr>
            <a:r>
              <a:rPr dirty="0"/>
              <a:t>r = 0.50 correlation</a:t>
            </a:r>
          </a:p>
          <a:p>
            <a:pPr>
              <a:spcAft>
                <a:spcPts val="520"/>
              </a:spcAft>
              <a:defRPr sz="1600">
                <a:solidFill>
                  <a:srgbClr val="FFFFFF"/>
                </a:solidFill>
              </a:defRPr>
            </a:pPr>
            <a:r>
              <a:rPr dirty="0"/>
              <a:t>with goal difference</a:t>
            </a:r>
          </a:p>
          <a:p>
            <a:pPr>
              <a:spcAft>
                <a:spcPts val="520"/>
              </a:spcAft>
              <a:defRPr sz="1600">
                <a:solidFill>
                  <a:srgbClr val="FFFFFF"/>
                </a:solidFill>
              </a:defRPr>
            </a:pPr>
            <a:endParaRPr dirty="0"/>
          </a:p>
          <a:p>
            <a:pPr>
              <a:spcAft>
                <a:spcPts val="520"/>
              </a:spcAft>
              <a:defRPr sz="1600">
                <a:solidFill>
                  <a:srgbClr val="FFFFFF"/>
                </a:solidFill>
              </a:defRPr>
            </a:pPr>
            <a:r>
              <a:rPr dirty="0"/>
              <a:t>Each +1 rating ≈</a:t>
            </a:r>
          </a:p>
          <a:p>
            <a:pPr>
              <a:spcAft>
                <a:spcPts val="520"/>
              </a:spcAft>
              <a:defRPr sz="1600">
                <a:solidFill>
                  <a:srgbClr val="FFFFFF"/>
                </a:solidFill>
              </a:defRPr>
            </a:pPr>
            <a:r>
              <a:rPr dirty="0"/>
              <a:t>+0.44 goals</a:t>
            </a:r>
          </a:p>
        </p:txBody>
      </p:sp>
      <p:sp>
        <p:nvSpPr>
          <p:cNvPr id="9" name="Rounded Rectangle 8"/>
          <p:cNvSpPr/>
          <p:nvPr/>
        </p:nvSpPr>
        <p:spPr>
          <a:xfrm>
            <a:off x="4480560" y="3170321"/>
            <a:ext cx="3200400" cy="2407519"/>
          </a:xfrm>
          <a:prstGeom prst="roundRect">
            <a:avLst/>
          </a:prstGeom>
          <a:solidFill>
            <a:srgbClr val="24355C"/>
          </a:solidFill>
          <a:ln w="25400">
            <a:solidFill>
              <a:srgbClr val="468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70120" y="3429000"/>
            <a:ext cx="2725554" cy="1890261"/>
          </a:xfrm>
          <a:prstGeom prst="rect">
            <a:avLst/>
          </a:prstGeom>
          <a:noFill/>
        </p:spPr>
        <p:txBody>
          <a:bodyPr wrap="square">
            <a:spAutoFit/>
          </a:bodyPr>
          <a:lstStyle/>
          <a:p>
            <a:pPr>
              <a:spcAft>
                <a:spcPts val="520"/>
              </a:spcAft>
              <a:defRPr sz="1600">
                <a:solidFill>
                  <a:srgbClr val="FFFFFF"/>
                </a:solidFill>
              </a:defRPr>
            </a:pPr>
            <a:r>
              <a:rPr dirty="0"/>
              <a:t>🎯 Ratings → Wins</a:t>
            </a:r>
          </a:p>
          <a:p>
            <a:pPr>
              <a:spcAft>
                <a:spcPts val="520"/>
              </a:spcAft>
              <a:defRPr sz="1600">
                <a:solidFill>
                  <a:srgbClr val="FFFFFF"/>
                </a:solidFill>
              </a:defRPr>
            </a:pPr>
            <a:endParaRPr dirty="0"/>
          </a:p>
          <a:p>
            <a:pPr>
              <a:spcAft>
                <a:spcPts val="520"/>
              </a:spcAft>
              <a:defRPr sz="1600">
                <a:solidFill>
                  <a:srgbClr val="FFFFFF"/>
                </a:solidFill>
              </a:defRPr>
            </a:pPr>
            <a:r>
              <a:rPr dirty="0"/>
              <a:t>Clear gradient:</a:t>
            </a:r>
          </a:p>
          <a:p>
            <a:pPr>
              <a:spcAft>
                <a:spcPts val="520"/>
              </a:spcAft>
              <a:defRPr sz="1600">
                <a:solidFill>
                  <a:srgbClr val="FFFFFF"/>
                </a:solidFill>
              </a:defRPr>
            </a:pPr>
            <a:r>
              <a:rPr dirty="0"/>
              <a:t>Away Win (−0.69)</a:t>
            </a:r>
          </a:p>
          <a:p>
            <a:pPr>
              <a:spcAft>
                <a:spcPts val="520"/>
              </a:spcAft>
              <a:defRPr sz="1600">
                <a:solidFill>
                  <a:srgbClr val="FFFFFF"/>
                </a:solidFill>
              </a:defRPr>
            </a:pPr>
            <a:r>
              <a:rPr dirty="0"/>
              <a:t>→ Draw (0.00)</a:t>
            </a:r>
          </a:p>
          <a:p>
            <a:pPr>
              <a:spcAft>
                <a:spcPts val="520"/>
              </a:spcAft>
              <a:defRPr sz="1600">
                <a:solidFill>
                  <a:srgbClr val="FFFFFF"/>
                </a:solidFill>
              </a:defRPr>
            </a:pPr>
            <a:r>
              <a:rPr dirty="0"/>
              <a:t>→ Home Win (+0.75)</a:t>
            </a:r>
          </a:p>
        </p:txBody>
      </p:sp>
      <p:sp>
        <p:nvSpPr>
          <p:cNvPr id="11" name="Rounded Rectangle 10"/>
          <p:cNvSpPr/>
          <p:nvPr/>
        </p:nvSpPr>
        <p:spPr>
          <a:xfrm>
            <a:off x="8229600" y="3108960"/>
            <a:ext cx="3200400" cy="2468880"/>
          </a:xfrm>
          <a:prstGeom prst="roundRect">
            <a:avLst/>
          </a:prstGeom>
          <a:solidFill>
            <a:srgbClr val="24355C"/>
          </a:solidFill>
          <a:ln w="25400">
            <a:solidFill>
              <a:srgbClr val="E86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71560" y="3285824"/>
            <a:ext cx="2788920" cy="2200576"/>
          </a:xfrm>
          <a:prstGeom prst="rect">
            <a:avLst/>
          </a:prstGeom>
          <a:noFill/>
        </p:spPr>
        <p:txBody>
          <a:bodyPr wrap="square">
            <a:spAutoFit/>
          </a:bodyPr>
          <a:lstStyle/>
          <a:p>
            <a:pPr>
              <a:spcAft>
                <a:spcPts val="520"/>
              </a:spcAft>
              <a:defRPr sz="1600">
                <a:solidFill>
                  <a:srgbClr val="FFFFFF"/>
                </a:solidFill>
              </a:defRPr>
            </a:pPr>
            <a:r>
              <a:rPr dirty="0"/>
              <a:t>🎯 Formations</a:t>
            </a:r>
          </a:p>
          <a:p>
            <a:pPr>
              <a:spcAft>
                <a:spcPts val="520"/>
              </a:spcAft>
              <a:defRPr sz="1600">
                <a:solidFill>
                  <a:srgbClr val="FFFFFF"/>
                </a:solidFill>
              </a:defRPr>
            </a:pPr>
            <a:r>
              <a:rPr dirty="0"/>
              <a:t>   Minor Impact</a:t>
            </a:r>
          </a:p>
          <a:p>
            <a:pPr>
              <a:spcAft>
                <a:spcPts val="520"/>
              </a:spcAft>
              <a:defRPr sz="1600">
                <a:solidFill>
                  <a:srgbClr val="FFFFFF"/>
                </a:solidFill>
              </a:defRPr>
            </a:pPr>
            <a:endParaRPr dirty="0"/>
          </a:p>
          <a:p>
            <a:pPr>
              <a:spcAft>
                <a:spcPts val="520"/>
              </a:spcAft>
              <a:defRPr sz="1600">
                <a:solidFill>
                  <a:srgbClr val="FFFFFF"/>
                </a:solidFill>
              </a:defRPr>
            </a:pPr>
            <a:r>
              <a:rPr dirty="0"/>
              <a:t>All formations produce</a:t>
            </a:r>
          </a:p>
          <a:p>
            <a:pPr>
              <a:spcAft>
                <a:spcPts val="520"/>
              </a:spcAft>
              <a:defRPr sz="1600">
                <a:solidFill>
                  <a:srgbClr val="FFFFFF"/>
                </a:solidFill>
              </a:defRPr>
            </a:pPr>
            <a:r>
              <a:rPr dirty="0"/>
              <a:t>~45% home win rate</a:t>
            </a:r>
          </a:p>
          <a:p>
            <a:pPr>
              <a:spcAft>
                <a:spcPts val="520"/>
              </a:spcAft>
              <a:defRPr sz="1600">
                <a:solidFill>
                  <a:srgbClr val="FFFFFF"/>
                </a:solidFill>
              </a:defRPr>
            </a:pPr>
            <a:endParaRPr dirty="0"/>
          </a:p>
          <a:p>
            <a:pPr>
              <a:spcAft>
                <a:spcPts val="520"/>
              </a:spcAft>
              <a:defRPr sz="1600">
                <a:solidFill>
                  <a:srgbClr val="FFFFFF"/>
                </a:solidFill>
              </a:defRPr>
            </a:pPr>
            <a:r>
              <a:rPr dirty="0"/>
              <a:t>Quality &gt; Shape</a:t>
            </a:r>
          </a:p>
        </p:txBody>
      </p:sp>
      <p:sp>
        <p:nvSpPr>
          <p:cNvPr id="13" name="TextBox 12"/>
          <p:cNvSpPr txBox="1"/>
          <p:nvPr/>
        </p:nvSpPr>
        <p:spPr>
          <a:xfrm>
            <a:off x="731520" y="5943600"/>
            <a:ext cx="10698480" cy="4114800"/>
          </a:xfrm>
          <a:prstGeom prst="rect">
            <a:avLst/>
          </a:prstGeom>
          <a:noFill/>
        </p:spPr>
        <p:txBody>
          <a:bodyPr wrap="square">
            <a:spAutoFit/>
          </a:bodyPr>
          <a:lstStyle/>
          <a:p>
            <a:pPr algn="ctr">
              <a:spcAft>
                <a:spcPts val="520"/>
              </a:spcAft>
              <a:defRPr sz="1500">
                <a:solidFill>
                  <a:srgbClr val="999999"/>
                </a:solidFill>
              </a:defRPr>
            </a:pPr>
            <a:r>
              <a:t>Combined with xG &amp; recent form: Ratings = structural quality measure  |  xG &amp; form = situational measures</a:t>
            </a:r>
          </a:p>
        </p:txBody>
      </p:sp>
      <p:sp>
        <p:nvSpPr>
          <p:cNvPr id="14" name="TextBox 13"/>
          <p:cNvSpPr txBox="1"/>
          <p:nvPr/>
        </p:nvSpPr>
        <p:spPr>
          <a:xfrm>
            <a:off x="10515600" y="6400800"/>
            <a:ext cx="1371600" cy="365760"/>
          </a:xfrm>
          <a:prstGeom prst="rect">
            <a:avLst/>
          </a:prstGeom>
          <a:noFill/>
        </p:spPr>
        <p:txBody>
          <a:bodyPr wrap="none">
            <a:spAutoFit/>
          </a:bodyPr>
          <a:lstStyle/>
          <a:p>
            <a:pPr algn="r">
              <a:defRPr sz="1100">
                <a:solidFill>
                  <a:srgbClr val="999999"/>
                </a:solidFill>
              </a:defRPr>
            </a:pPr>
            <a: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1472</Words>
  <Application>Microsoft Office PowerPoint</Application>
  <PresentationFormat>Widescreen</PresentationFormat>
  <Paragraphs>129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Octavian L .</cp:lastModifiedBy>
  <cp:revision>3</cp:revision>
  <dcterms:created xsi:type="dcterms:W3CDTF">2013-01-27T09:14:16Z</dcterms:created>
  <dcterms:modified xsi:type="dcterms:W3CDTF">2026-07-03T14:37:04Z</dcterms:modified>
  <cp:category/>
</cp:coreProperties>
</file>